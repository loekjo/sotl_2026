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7"/>
  </p:notesMasterIdLst>
  <p:sldIdLst>
    <p:sldId id="256" r:id="rId5"/>
    <p:sldId id="260" r:id="rId6"/>
  </p:sldIdLst>
  <p:sldSz cx="129841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FA12C8-5CBA-1E69-2DE2-8138107FD040}" name="Houwelingen, A.H. van (Anneke)" initials="H(" userId="S::a.h.vanhouwelingen@uu.nl::f9269f4e-59eb-4e97-995a-7c6e8c4839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2"/>
    <p:restoredTop sz="91712"/>
  </p:normalViewPr>
  <p:slideViewPr>
    <p:cSldViewPr snapToGrid="0">
      <p:cViewPr varScale="1">
        <p:scale>
          <a:sx n="74" d="100"/>
          <a:sy n="74" d="100"/>
        </p:scale>
        <p:origin x="2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B4F8F-540E-B744-9F50-D9359D1428F5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4800" y="1143000"/>
            <a:ext cx="3708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A73B0-85BE-B94E-B29F-2940678AA85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5642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3213" y="1143000"/>
            <a:ext cx="3711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A73B0-85BE-B94E-B29F-2940678AA857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3484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812" y="1767462"/>
            <a:ext cx="11036539" cy="3759917"/>
          </a:xfrm>
        </p:spPr>
        <p:txBody>
          <a:bodyPr anchor="b"/>
          <a:lstStyle>
            <a:lvl1pPr algn="ctr">
              <a:defRPr sz="8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3021" y="5672376"/>
            <a:ext cx="9738122" cy="2607442"/>
          </a:xfrm>
        </p:spPr>
        <p:txBody>
          <a:bodyPr/>
          <a:lstStyle>
            <a:lvl1pPr marL="0" indent="0" algn="ctr">
              <a:buNone/>
              <a:defRPr sz="3408"/>
            </a:lvl1pPr>
            <a:lvl2pPr marL="649224" indent="0" algn="ctr">
              <a:buNone/>
              <a:defRPr sz="2840"/>
            </a:lvl2pPr>
            <a:lvl3pPr marL="1298448" indent="0" algn="ctr">
              <a:buNone/>
              <a:defRPr sz="2556"/>
            </a:lvl3pPr>
            <a:lvl4pPr marL="1947672" indent="0" algn="ctr">
              <a:buNone/>
              <a:defRPr sz="2272"/>
            </a:lvl4pPr>
            <a:lvl5pPr marL="2596896" indent="0" algn="ctr">
              <a:buNone/>
              <a:defRPr sz="2272"/>
            </a:lvl5pPr>
            <a:lvl6pPr marL="3246120" indent="0" algn="ctr">
              <a:buNone/>
              <a:defRPr sz="2272"/>
            </a:lvl6pPr>
            <a:lvl7pPr marL="3895344" indent="0" algn="ctr">
              <a:buNone/>
              <a:defRPr sz="2272"/>
            </a:lvl7pPr>
            <a:lvl8pPr marL="4544568" indent="0" algn="ctr">
              <a:buNone/>
              <a:defRPr sz="2272"/>
            </a:lvl8pPr>
            <a:lvl9pPr marL="5193792" indent="0" algn="ctr">
              <a:buNone/>
              <a:defRPr sz="227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771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6161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899" y="2692444"/>
            <a:ext cx="11198841" cy="4492401"/>
          </a:xfrm>
        </p:spPr>
        <p:txBody>
          <a:bodyPr anchor="b"/>
          <a:lstStyle>
            <a:lvl1pPr>
              <a:defRPr sz="8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5899" y="7227345"/>
            <a:ext cx="11198841" cy="2362447"/>
          </a:xfrm>
        </p:spPr>
        <p:txBody>
          <a:bodyPr/>
          <a:lstStyle>
            <a:lvl1pPr marL="0" indent="0">
              <a:buNone/>
              <a:defRPr sz="3408">
                <a:solidFill>
                  <a:schemeClr val="tx1">
                    <a:tint val="82000"/>
                  </a:schemeClr>
                </a:solidFill>
              </a:defRPr>
            </a:lvl1pPr>
            <a:lvl2pPr marL="649224" indent="0">
              <a:buNone/>
              <a:defRPr sz="2840">
                <a:solidFill>
                  <a:schemeClr val="tx1">
                    <a:tint val="82000"/>
                  </a:schemeClr>
                </a:solidFill>
              </a:defRPr>
            </a:lvl2pPr>
            <a:lvl3pPr marL="1298448" indent="0">
              <a:buNone/>
              <a:defRPr sz="2556">
                <a:solidFill>
                  <a:schemeClr val="tx1">
                    <a:tint val="82000"/>
                  </a:schemeClr>
                </a:solidFill>
              </a:defRPr>
            </a:lvl3pPr>
            <a:lvl4pPr marL="1947672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4pPr>
            <a:lvl5pPr marL="2596896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5pPr>
            <a:lvl6pPr marL="3246120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6pPr>
            <a:lvl7pPr marL="3895344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7pPr>
            <a:lvl8pPr marL="4544568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8pPr>
            <a:lvl9pPr marL="5193792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930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2661" y="2874937"/>
            <a:ext cx="551826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3233" y="2874937"/>
            <a:ext cx="551826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703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52" y="574990"/>
            <a:ext cx="11198841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354" y="2647443"/>
            <a:ext cx="5492909" cy="1297471"/>
          </a:xfrm>
        </p:spPr>
        <p:txBody>
          <a:bodyPr anchor="b"/>
          <a:lstStyle>
            <a:lvl1pPr marL="0" indent="0">
              <a:buNone/>
              <a:defRPr sz="3408" b="1"/>
            </a:lvl1pPr>
            <a:lvl2pPr marL="649224" indent="0">
              <a:buNone/>
              <a:defRPr sz="2840" b="1"/>
            </a:lvl2pPr>
            <a:lvl3pPr marL="1298448" indent="0">
              <a:buNone/>
              <a:defRPr sz="2556" b="1"/>
            </a:lvl3pPr>
            <a:lvl4pPr marL="1947672" indent="0">
              <a:buNone/>
              <a:defRPr sz="2272" b="1"/>
            </a:lvl4pPr>
            <a:lvl5pPr marL="2596896" indent="0">
              <a:buNone/>
              <a:defRPr sz="2272" b="1"/>
            </a:lvl5pPr>
            <a:lvl6pPr marL="3246120" indent="0">
              <a:buNone/>
              <a:defRPr sz="2272" b="1"/>
            </a:lvl6pPr>
            <a:lvl7pPr marL="3895344" indent="0">
              <a:buNone/>
              <a:defRPr sz="2272" b="1"/>
            </a:lvl7pPr>
            <a:lvl8pPr marL="4544568" indent="0">
              <a:buNone/>
              <a:defRPr sz="2272" b="1"/>
            </a:lvl8pPr>
            <a:lvl9pPr marL="5193792" indent="0">
              <a:buNone/>
              <a:defRPr sz="22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4354" y="3944914"/>
            <a:ext cx="5492909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73233" y="2647443"/>
            <a:ext cx="5519960" cy="1297471"/>
          </a:xfrm>
        </p:spPr>
        <p:txBody>
          <a:bodyPr anchor="b"/>
          <a:lstStyle>
            <a:lvl1pPr marL="0" indent="0">
              <a:buNone/>
              <a:defRPr sz="3408" b="1"/>
            </a:lvl1pPr>
            <a:lvl2pPr marL="649224" indent="0">
              <a:buNone/>
              <a:defRPr sz="2840" b="1"/>
            </a:lvl2pPr>
            <a:lvl3pPr marL="1298448" indent="0">
              <a:buNone/>
              <a:defRPr sz="2556" b="1"/>
            </a:lvl3pPr>
            <a:lvl4pPr marL="1947672" indent="0">
              <a:buNone/>
              <a:defRPr sz="2272" b="1"/>
            </a:lvl4pPr>
            <a:lvl5pPr marL="2596896" indent="0">
              <a:buNone/>
              <a:defRPr sz="2272" b="1"/>
            </a:lvl5pPr>
            <a:lvl6pPr marL="3246120" indent="0">
              <a:buNone/>
              <a:defRPr sz="2272" b="1"/>
            </a:lvl6pPr>
            <a:lvl7pPr marL="3895344" indent="0">
              <a:buNone/>
              <a:defRPr sz="2272" b="1"/>
            </a:lvl7pPr>
            <a:lvl8pPr marL="4544568" indent="0">
              <a:buNone/>
              <a:defRPr sz="2272" b="1"/>
            </a:lvl8pPr>
            <a:lvl9pPr marL="5193792" indent="0">
              <a:buNone/>
              <a:defRPr sz="22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73233" y="3944914"/>
            <a:ext cx="5519960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772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488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475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52" y="719984"/>
            <a:ext cx="4187731" cy="2519945"/>
          </a:xfrm>
        </p:spPr>
        <p:txBody>
          <a:bodyPr anchor="b"/>
          <a:lstStyle>
            <a:lvl1pPr>
              <a:defRPr sz="45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9960" y="1554968"/>
            <a:ext cx="6573233" cy="7674832"/>
          </a:xfrm>
        </p:spPr>
        <p:txBody>
          <a:bodyPr/>
          <a:lstStyle>
            <a:lvl1pPr>
              <a:defRPr sz="4544"/>
            </a:lvl1pPr>
            <a:lvl2pPr>
              <a:defRPr sz="3976"/>
            </a:lvl2pPr>
            <a:lvl3pPr>
              <a:defRPr sz="3408"/>
            </a:lvl3pPr>
            <a:lvl4pPr>
              <a:defRPr sz="2840"/>
            </a:lvl4pPr>
            <a:lvl5pPr>
              <a:defRPr sz="2840"/>
            </a:lvl5pPr>
            <a:lvl6pPr>
              <a:defRPr sz="2840"/>
            </a:lvl6pPr>
            <a:lvl7pPr>
              <a:defRPr sz="2840"/>
            </a:lvl7pPr>
            <a:lvl8pPr>
              <a:defRPr sz="2840"/>
            </a:lvl8pPr>
            <a:lvl9pPr>
              <a:defRPr sz="284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4352" y="3239929"/>
            <a:ext cx="4187731" cy="6002369"/>
          </a:xfrm>
        </p:spPr>
        <p:txBody>
          <a:bodyPr/>
          <a:lstStyle>
            <a:lvl1pPr marL="0" indent="0">
              <a:buNone/>
              <a:defRPr sz="2272"/>
            </a:lvl1pPr>
            <a:lvl2pPr marL="649224" indent="0">
              <a:buNone/>
              <a:defRPr sz="1988"/>
            </a:lvl2pPr>
            <a:lvl3pPr marL="1298448" indent="0">
              <a:buNone/>
              <a:defRPr sz="1704"/>
            </a:lvl3pPr>
            <a:lvl4pPr marL="1947672" indent="0">
              <a:buNone/>
              <a:defRPr sz="1420"/>
            </a:lvl4pPr>
            <a:lvl5pPr marL="2596896" indent="0">
              <a:buNone/>
              <a:defRPr sz="1420"/>
            </a:lvl5pPr>
            <a:lvl6pPr marL="3246120" indent="0">
              <a:buNone/>
              <a:defRPr sz="1420"/>
            </a:lvl6pPr>
            <a:lvl7pPr marL="3895344" indent="0">
              <a:buNone/>
              <a:defRPr sz="1420"/>
            </a:lvl7pPr>
            <a:lvl8pPr marL="4544568" indent="0">
              <a:buNone/>
              <a:defRPr sz="1420"/>
            </a:lvl8pPr>
            <a:lvl9pPr marL="5193792" indent="0">
              <a:buNone/>
              <a:defRPr sz="1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075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52" y="719984"/>
            <a:ext cx="4187731" cy="2519945"/>
          </a:xfrm>
        </p:spPr>
        <p:txBody>
          <a:bodyPr anchor="b"/>
          <a:lstStyle>
            <a:lvl1pPr>
              <a:defRPr sz="45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9960" y="1554968"/>
            <a:ext cx="6573233" cy="7674832"/>
          </a:xfrm>
        </p:spPr>
        <p:txBody>
          <a:bodyPr anchor="t"/>
          <a:lstStyle>
            <a:lvl1pPr marL="0" indent="0">
              <a:buNone/>
              <a:defRPr sz="4544"/>
            </a:lvl1pPr>
            <a:lvl2pPr marL="649224" indent="0">
              <a:buNone/>
              <a:defRPr sz="3976"/>
            </a:lvl2pPr>
            <a:lvl3pPr marL="1298448" indent="0">
              <a:buNone/>
              <a:defRPr sz="3408"/>
            </a:lvl3pPr>
            <a:lvl4pPr marL="1947672" indent="0">
              <a:buNone/>
              <a:defRPr sz="2840"/>
            </a:lvl4pPr>
            <a:lvl5pPr marL="2596896" indent="0">
              <a:buNone/>
              <a:defRPr sz="2840"/>
            </a:lvl5pPr>
            <a:lvl6pPr marL="3246120" indent="0">
              <a:buNone/>
              <a:defRPr sz="2840"/>
            </a:lvl6pPr>
            <a:lvl7pPr marL="3895344" indent="0">
              <a:buNone/>
              <a:defRPr sz="2840"/>
            </a:lvl7pPr>
            <a:lvl8pPr marL="4544568" indent="0">
              <a:buNone/>
              <a:defRPr sz="2840"/>
            </a:lvl8pPr>
            <a:lvl9pPr marL="5193792" indent="0">
              <a:buNone/>
              <a:defRPr sz="284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4352" y="3239929"/>
            <a:ext cx="4187731" cy="6002369"/>
          </a:xfrm>
        </p:spPr>
        <p:txBody>
          <a:bodyPr/>
          <a:lstStyle>
            <a:lvl1pPr marL="0" indent="0">
              <a:buNone/>
              <a:defRPr sz="2272"/>
            </a:lvl1pPr>
            <a:lvl2pPr marL="649224" indent="0">
              <a:buNone/>
              <a:defRPr sz="1988"/>
            </a:lvl2pPr>
            <a:lvl3pPr marL="1298448" indent="0">
              <a:buNone/>
              <a:defRPr sz="1704"/>
            </a:lvl3pPr>
            <a:lvl4pPr marL="1947672" indent="0">
              <a:buNone/>
              <a:defRPr sz="1420"/>
            </a:lvl4pPr>
            <a:lvl5pPr marL="2596896" indent="0">
              <a:buNone/>
              <a:defRPr sz="1420"/>
            </a:lvl5pPr>
            <a:lvl6pPr marL="3246120" indent="0">
              <a:buNone/>
              <a:defRPr sz="1420"/>
            </a:lvl6pPr>
            <a:lvl7pPr marL="3895344" indent="0">
              <a:buNone/>
              <a:defRPr sz="1420"/>
            </a:lvl7pPr>
            <a:lvl8pPr marL="4544568" indent="0">
              <a:buNone/>
              <a:defRPr sz="1420"/>
            </a:lvl8pPr>
            <a:lvl9pPr marL="5193792" indent="0">
              <a:buNone/>
              <a:defRPr sz="1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012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891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1792" y="574987"/>
            <a:ext cx="2799710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2662" y="574987"/>
            <a:ext cx="8236828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046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2661" y="574990"/>
            <a:ext cx="11198841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661" y="2874937"/>
            <a:ext cx="11198841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2661" y="10009783"/>
            <a:ext cx="292143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679C5-73CC-3C42-8E28-688364990E4C}" type="datetimeFigureOut">
              <a:rPr lang="en-NL" smtClean="0"/>
              <a:t>25/10/2026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1004" y="10009783"/>
            <a:ext cx="438215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0065" y="10009783"/>
            <a:ext cx="292143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B2849-1E4B-7F48-8392-FA6B53D389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9720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98448" rtl="0" eaLnBrk="1" latinLnBrk="0" hangingPunct="1">
        <a:lnSpc>
          <a:spcPct val="90000"/>
        </a:lnSpc>
        <a:spcBef>
          <a:spcPct val="0"/>
        </a:spcBef>
        <a:buNone/>
        <a:defRPr sz="6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612" indent="-324612" algn="l" defTabSz="1298448" rtl="0" eaLnBrk="1" latinLnBrk="0" hangingPunct="1">
        <a:lnSpc>
          <a:spcPct val="90000"/>
        </a:lnSpc>
        <a:spcBef>
          <a:spcPts val="1420"/>
        </a:spcBef>
        <a:buFont typeface="Arial" panose="020B0604020202020204" pitchFamily="34" charset="0"/>
        <a:buChar char="•"/>
        <a:defRPr sz="3976" kern="1200">
          <a:solidFill>
            <a:schemeClr val="tx1"/>
          </a:solidFill>
          <a:latin typeface="+mn-lt"/>
          <a:ea typeface="+mn-ea"/>
          <a:cs typeface="+mn-cs"/>
        </a:defRPr>
      </a:lvl1pPr>
      <a:lvl2pPr marL="973836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3408" kern="1200">
          <a:solidFill>
            <a:schemeClr val="tx1"/>
          </a:solidFill>
          <a:latin typeface="+mn-lt"/>
          <a:ea typeface="+mn-ea"/>
          <a:cs typeface="+mn-cs"/>
        </a:defRPr>
      </a:lvl2pPr>
      <a:lvl3pPr marL="1623060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840" kern="1200">
          <a:solidFill>
            <a:schemeClr val="tx1"/>
          </a:solidFill>
          <a:latin typeface="+mn-lt"/>
          <a:ea typeface="+mn-ea"/>
          <a:cs typeface="+mn-cs"/>
        </a:defRPr>
      </a:lvl3pPr>
      <a:lvl4pPr marL="2272284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4pPr>
      <a:lvl5pPr marL="2921508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5pPr>
      <a:lvl6pPr marL="3570732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6pPr>
      <a:lvl7pPr marL="4219956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7pPr>
      <a:lvl8pPr marL="4869180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8pPr>
      <a:lvl9pPr marL="5518404" indent="-324612" algn="l" defTabSz="1298448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1pPr>
      <a:lvl2pPr marL="649224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2pPr>
      <a:lvl3pPr marL="1298448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3pPr>
      <a:lvl4pPr marL="1947672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4pPr>
      <a:lvl5pPr marL="2596896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5pPr>
      <a:lvl6pPr marL="3246120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6pPr>
      <a:lvl7pPr marL="3895344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7pPr>
      <a:lvl8pPr marL="4544568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8pPr>
      <a:lvl9pPr marL="5193792" algn="l" defTabSz="1298448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7FA037-52C6-CC58-CABF-7A43E26D2DEC}"/>
              </a:ext>
            </a:extLst>
          </p:cNvPr>
          <p:cNvSpPr txBox="1"/>
          <p:nvPr/>
        </p:nvSpPr>
        <p:spPr>
          <a:xfrm>
            <a:off x="202894" y="2615388"/>
            <a:ext cx="1916230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Type of question?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47C41-E8B6-DCBA-D142-9BAE60E0CD91}"/>
              </a:ext>
            </a:extLst>
          </p:cNvPr>
          <p:cNvSpPr txBox="1"/>
          <p:nvPr/>
        </p:nvSpPr>
        <p:spPr>
          <a:xfrm>
            <a:off x="1531959" y="3519161"/>
            <a:ext cx="1677031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Procedural  </a:t>
            </a:r>
          </a:p>
          <a:p>
            <a:r>
              <a:rPr lang="en-US" sz="1600" dirty="0"/>
              <a:t>(q</a:t>
            </a:r>
            <a:r>
              <a:rPr lang="en-NL" sz="1600" dirty="0"/>
              <a:t>uantitative</a:t>
            </a:r>
            <a:r>
              <a:rPr lang="en-US" sz="1600" dirty="0"/>
              <a:t>)</a:t>
            </a:r>
            <a:endParaRPr lang="en-N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DC445-320C-F97F-716B-F557DA1EA896}"/>
              </a:ext>
            </a:extLst>
          </p:cNvPr>
          <p:cNvSpPr txBox="1"/>
          <p:nvPr/>
        </p:nvSpPr>
        <p:spPr>
          <a:xfrm>
            <a:off x="1273702" y="5915404"/>
            <a:ext cx="1709122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Conceptional  </a:t>
            </a:r>
          </a:p>
          <a:p>
            <a:r>
              <a:rPr lang="en-US" sz="1600" dirty="0"/>
              <a:t>(</a:t>
            </a:r>
            <a:r>
              <a:rPr lang="en-NL" sz="1600" dirty="0"/>
              <a:t>qualitative</a:t>
            </a:r>
            <a:r>
              <a:rPr lang="en-US" sz="1600" dirty="0"/>
              <a:t>)</a:t>
            </a:r>
            <a:endParaRPr lang="en-N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3935C-972B-3B5A-1EE0-2B000D4B2BBF}"/>
              </a:ext>
            </a:extLst>
          </p:cNvPr>
          <p:cNvSpPr txBox="1"/>
          <p:nvPr/>
        </p:nvSpPr>
        <p:spPr>
          <a:xfrm>
            <a:off x="3584984" y="2519465"/>
            <a:ext cx="1659685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S</a:t>
            </a:r>
            <a:r>
              <a:rPr lang="en-NL" sz="1600" dirty="0"/>
              <a:t>ingle formula</a:t>
            </a:r>
            <a:r>
              <a:rPr lang="en-US" sz="1600" dirty="0"/>
              <a:t> calculation</a:t>
            </a:r>
            <a:r>
              <a:rPr lang="en-NL" sz="16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572CD-9ACC-284E-151B-ACA7789F5006}"/>
              </a:ext>
            </a:extLst>
          </p:cNvPr>
          <p:cNvSpPr txBox="1"/>
          <p:nvPr/>
        </p:nvSpPr>
        <p:spPr>
          <a:xfrm>
            <a:off x="11256706" y="2497226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61ABA-2097-89FD-5E5E-E72C732A9CE3}"/>
              </a:ext>
            </a:extLst>
          </p:cNvPr>
          <p:cNvSpPr txBox="1"/>
          <p:nvPr/>
        </p:nvSpPr>
        <p:spPr>
          <a:xfrm>
            <a:off x="3576959" y="3820422"/>
            <a:ext cx="2143920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Multiple </a:t>
            </a:r>
            <a:r>
              <a:rPr lang="en-NL" sz="1600" dirty="0"/>
              <a:t>formula’s </a:t>
            </a:r>
          </a:p>
          <a:p>
            <a:r>
              <a:rPr lang="en-NL" sz="1600" dirty="0"/>
              <a:t>and/or calculations</a:t>
            </a:r>
          </a:p>
          <a:p>
            <a:r>
              <a:rPr lang="en-NL" sz="1600" dirty="0"/>
              <a:t>(except T1/2 to Ke)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528EC-BDE4-C2E8-DFBF-035EE4AFBBD8}"/>
              </a:ext>
            </a:extLst>
          </p:cNvPr>
          <p:cNvSpPr txBox="1"/>
          <p:nvPr/>
        </p:nvSpPr>
        <p:spPr>
          <a:xfrm>
            <a:off x="11276754" y="3598241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AFFED-AFC8-E551-171A-4FACF55345BB}"/>
              </a:ext>
            </a:extLst>
          </p:cNvPr>
          <p:cNvSpPr txBox="1"/>
          <p:nvPr/>
        </p:nvSpPr>
        <p:spPr>
          <a:xfrm>
            <a:off x="6985922" y="3321729"/>
            <a:ext cx="346472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/>
              <a:t>R</a:t>
            </a:r>
            <a:r>
              <a:rPr lang="en-NL" sz="1600" dirty="0"/>
              <a:t>elation</a:t>
            </a:r>
            <a:r>
              <a:rPr lang="en-US" sz="1600" dirty="0"/>
              <a:t>ship</a:t>
            </a:r>
            <a:r>
              <a:rPr lang="en-NL" sz="1600" dirty="0"/>
              <a:t> indicated in question </a:t>
            </a:r>
            <a:r>
              <a:rPr lang="en-US" sz="1600" dirty="0"/>
              <a:t>and </a:t>
            </a:r>
            <a:r>
              <a:rPr lang="en-NL" sz="1600" dirty="0"/>
              <a:t>formulas fully present on formula sheet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31EE4-6CB9-D306-DA33-6D19F19BA4CC}"/>
              </a:ext>
            </a:extLst>
          </p:cNvPr>
          <p:cNvSpPr txBox="1"/>
          <p:nvPr/>
        </p:nvSpPr>
        <p:spPr>
          <a:xfrm>
            <a:off x="6945960" y="4369068"/>
            <a:ext cx="304056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Relationship needs to be determined from given information</a:t>
            </a:r>
            <a:endParaRPr lang="en-NL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B2D63-D370-FE7D-6C54-8F9C1B02AB2D}"/>
              </a:ext>
            </a:extLst>
          </p:cNvPr>
          <p:cNvSpPr txBox="1"/>
          <p:nvPr/>
        </p:nvSpPr>
        <p:spPr>
          <a:xfrm>
            <a:off x="11231708" y="4445120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49C9AA-8E86-4D8F-BC49-863B0B080F8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161009" y="2953942"/>
            <a:ext cx="413491" cy="565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B8B337-0F1A-ECE0-C837-E45102E0CF08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208990" y="2811853"/>
            <a:ext cx="375994" cy="999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8DC299-92BA-8E8F-1416-319AD4E27CE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208990" y="3811549"/>
            <a:ext cx="367969" cy="424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D9E893-E218-7E77-5EDA-239A6E6AFFDF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>
            <a:off x="10044310" y="2479393"/>
            <a:ext cx="1212396" cy="187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C481EE-59CB-C622-0D04-AF6112D167D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720879" y="3773581"/>
            <a:ext cx="1286857" cy="462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5D4027D-8F05-682F-7C9A-1B60D570275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720879" y="4235921"/>
            <a:ext cx="1265043" cy="521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766232-CE25-CBBF-CE4A-4E3AC3C20E3E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0020955" y="4614397"/>
            <a:ext cx="12107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AFB443-F509-3DD7-6C6E-BF3BAD963BEF}"/>
              </a:ext>
            </a:extLst>
          </p:cNvPr>
          <p:cNvCxnSpPr>
            <a:cxnSpLocks/>
          </p:cNvCxnSpPr>
          <p:nvPr/>
        </p:nvCxnSpPr>
        <p:spPr>
          <a:xfrm flipH="1">
            <a:off x="1132934" y="2984722"/>
            <a:ext cx="16045" cy="2553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A15F73F-0D45-6BD9-0F42-BD8A4D7E460B}"/>
              </a:ext>
            </a:extLst>
          </p:cNvPr>
          <p:cNvSpPr txBox="1"/>
          <p:nvPr/>
        </p:nvSpPr>
        <p:spPr>
          <a:xfrm>
            <a:off x="3621993" y="5382402"/>
            <a:ext cx="1725152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S</a:t>
            </a:r>
            <a:r>
              <a:rPr lang="en-NL" sz="1600" dirty="0"/>
              <a:t>ingle concept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82C746-416B-8FDF-CB9A-E6EDBC1DAAD5}"/>
              </a:ext>
            </a:extLst>
          </p:cNvPr>
          <p:cNvSpPr txBox="1"/>
          <p:nvPr/>
        </p:nvSpPr>
        <p:spPr>
          <a:xfrm>
            <a:off x="11276754" y="5398614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CADBB7-70F5-2ABE-351A-ACB229028FD4}"/>
              </a:ext>
            </a:extLst>
          </p:cNvPr>
          <p:cNvSpPr txBox="1"/>
          <p:nvPr/>
        </p:nvSpPr>
        <p:spPr>
          <a:xfrm>
            <a:off x="3584983" y="6282883"/>
            <a:ext cx="2040110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Multiple </a:t>
            </a:r>
            <a:r>
              <a:rPr lang="en-NL" sz="1600" dirty="0"/>
              <a:t>concepts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1EA64E-F4DF-7F47-CEC4-1C1BA0465E5B}"/>
              </a:ext>
            </a:extLst>
          </p:cNvPr>
          <p:cNvSpPr txBox="1"/>
          <p:nvPr/>
        </p:nvSpPr>
        <p:spPr>
          <a:xfrm>
            <a:off x="11239732" y="6060704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BCB423-B2C0-7239-9DC5-C6E8408ED096}"/>
              </a:ext>
            </a:extLst>
          </p:cNvPr>
          <p:cNvSpPr txBox="1"/>
          <p:nvPr/>
        </p:nvSpPr>
        <p:spPr>
          <a:xfrm>
            <a:off x="7015760" y="6039508"/>
            <a:ext cx="32883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Relationships </a:t>
            </a:r>
            <a:r>
              <a:rPr lang="en-US" sz="1600" dirty="0"/>
              <a:t>not to be addressed (thus </a:t>
            </a:r>
            <a:r>
              <a:rPr lang="en-NL" sz="1600" dirty="0"/>
              <a:t>absent</a:t>
            </a:r>
            <a:r>
              <a:rPr lang="en-US" sz="1600" dirty="0"/>
              <a:t>)</a:t>
            </a:r>
            <a:endParaRPr lang="en-NL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642B72-61F6-8B71-51B6-63C378369A9B}"/>
              </a:ext>
            </a:extLst>
          </p:cNvPr>
          <p:cNvSpPr txBox="1"/>
          <p:nvPr/>
        </p:nvSpPr>
        <p:spPr>
          <a:xfrm>
            <a:off x="6985922" y="7612376"/>
            <a:ext cx="329976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R</a:t>
            </a:r>
            <a:r>
              <a:rPr lang="en-NL" sz="1600" dirty="0"/>
              <a:t>elationships </a:t>
            </a:r>
            <a:r>
              <a:rPr lang="en-US" sz="1600" dirty="0"/>
              <a:t>n</a:t>
            </a:r>
            <a:r>
              <a:rPr lang="en-NL" sz="1600" dirty="0"/>
              <a:t>eed</a:t>
            </a:r>
            <a:r>
              <a:rPr lang="en-US" sz="1600" dirty="0"/>
              <a:t> to be determined from given information </a:t>
            </a:r>
            <a:endParaRPr lang="en-NL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B49369-381C-848A-72F1-DF8F1DEC6775}"/>
              </a:ext>
            </a:extLst>
          </p:cNvPr>
          <p:cNvSpPr txBox="1"/>
          <p:nvPr/>
        </p:nvSpPr>
        <p:spPr>
          <a:xfrm>
            <a:off x="11276754" y="7574814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4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734FDE0-10B3-387E-FC16-2C333F929A71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5347145" y="5551679"/>
            <a:ext cx="5929609" cy="16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9CE4789-DB63-ED73-8A8A-850C991837CF}"/>
              </a:ext>
            </a:extLst>
          </p:cNvPr>
          <p:cNvCxnSpPr>
            <a:cxnSpLocks/>
          </p:cNvCxnSpPr>
          <p:nvPr/>
        </p:nvCxnSpPr>
        <p:spPr>
          <a:xfrm flipV="1">
            <a:off x="5603868" y="6252033"/>
            <a:ext cx="1390667" cy="2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39432BA-70DB-8BD6-2798-F297FCFB8C21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5625093" y="6452160"/>
            <a:ext cx="1360829" cy="1452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BA499D2-A3BA-F5FD-7FD0-02EAF5FDFC06}"/>
              </a:ext>
            </a:extLst>
          </p:cNvPr>
          <p:cNvCxnSpPr>
            <a:cxnSpLocks/>
          </p:cNvCxnSpPr>
          <p:nvPr/>
        </p:nvCxnSpPr>
        <p:spPr>
          <a:xfrm>
            <a:off x="10362838" y="6207791"/>
            <a:ext cx="818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A1AB5E-DD89-1773-4CD7-757E3CBC057C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10285686" y="7744091"/>
            <a:ext cx="991068" cy="160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1CF880A-EB21-A8B1-BED8-4C00CAB7D0AB}"/>
              </a:ext>
            </a:extLst>
          </p:cNvPr>
          <p:cNvCxnSpPr>
            <a:cxnSpLocks/>
            <a:stCxn id="6" idx="3"/>
            <a:endCxn id="40" idx="1"/>
          </p:cNvCxnSpPr>
          <p:nvPr/>
        </p:nvCxnSpPr>
        <p:spPr>
          <a:xfrm flipV="1">
            <a:off x="2982824" y="5551679"/>
            <a:ext cx="639169" cy="656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30257FB-CED0-DD8E-A211-1FA938E33D9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982824" y="6207792"/>
            <a:ext cx="590122" cy="314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FE4E43E-0F94-E575-692A-6B0427B0121A}"/>
              </a:ext>
            </a:extLst>
          </p:cNvPr>
          <p:cNvCxnSpPr>
            <a:cxnSpLocks/>
          </p:cNvCxnSpPr>
          <p:nvPr/>
        </p:nvCxnSpPr>
        <p:spPr>
          <a:xfrm>
            <a:off x="1132932" y="5531413"/>
            <a:ext cx="237310" cy="404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24FA47C-5177-B8C6-BFD2-E1A85F85FD6B}"/>
              </a:ext>
            </a:extLst>
          </p:cNvPr>
          <p:cNvSpPr txBox="1"/>
          <p:nvPr/>
        </p:nvSpPr>
        <p:spPr>
          <a:xfrm>
            <a:off x="7004296" y="8269206"/>
            <a:ext cx="3299763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Creating </a:t>
            </a:r>
            <a:r>
              <a:rPr lang="en-NL" sz="1600" dirty="0"/>
              <a:t>new relationships or</a:t>
            </a:r>
            <a:r>
              <a:rPr lang="en-US" sz="1600" dirty="0"/>
              <a:t> new knowledge</a:t>
            </a:r>
            <a:r>
              <a:rPr lang="en-NL" sz="1600" dirty="0"/>
              <a:t>  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251307-3864-207E-9EAF-11702D519D89}"/>
              </a:ext>
            </a:extLst>
          </p:cNvPr>
          <p:cNvSpPr txBox="1"/>
          <p:nvPr/>
        </p:nvSpPr>
        <p:spPr>
          <a:xfrm>
            <a:off x="11276754" y="8397813"/>
            <a:ext cx="93019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NL" sz="1600" dirty="0"/>
              <a:t>SOLO 5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5552E8-0E90-2F81-5E2D-A9A5AD805C13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0304059" y="8561594"/>
            <a:ext cx="963170" cy="5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045DF4F-A7DF-E6DA-474E-74AC44D138E9}"/>
              </a:ext>
            </a:extLst>
          </p:cNvPr>
          <p:cNvCxnSpPr>
            <a:cxnSpLocks/>
            <a:stCxn id="42" idx="3"/>
            <a:endCxn id="63" idx="1"/>
          </p:cNvCxnSpPr>
          <p:nvPr/>
        </p:nvCxnSpPr>
        <p:spPr>
          <a:xfrm>
            <a:off x="5625093" y="6452160"/>
            <a:ext cx="1379203" cy="2109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7D4A83C-EB5A-859B-84E9-2F5CE919C29C}"/>
              </a:ext>
            </a:extLst>
          </p:cNvPr>
          <p:cNvSpPr txBox="1"/>
          <p:nvPr/>
        </p:nvSpPr>
        <p:spPr>
          <a:xfrm>
            <a:off x="12496695" y="8397738"/>
            <a:ext cx="434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/>
              <a:t>(?)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041D69-0DD9-EEC2-4D27-20183FF1EA2F}"/>
              </a:ext>
            </a:extLst>
          </p:cNvPr>
          <p:cNvSpPr txBox="1"/>
          <p:nvPr/>
        </p:nvSpPr>
        <p:spPr>
          <a:xfrm>
            <a:off x="6579588" y="1940784"/>
            <a:ext cx="3464722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/>
              <a:t>All parameters in text or derived from figures or formulas on formula sheet (unit conversion included and clear assumptions)</a:t>
            </a:r>
            <a:endParaRPr lang="en-NL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4ECB89-B363-7A9E-4FE5-4B464C0B7B38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5244669" y="2479393"/>
            <a:ext cx="1334919" cy="332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D27D748-9112-2206-9434-007CCE79F83E}"/>
              </a:ext>
            </a:extLst>
          </p:cNvPr>
          <p:cNvSpPr txBox="1"/>
          <p:nvPr/>
        </p:nvSpPr>
        <p:spPr>
          <a:xfrm>
            <a:off x="7015761" y="6737240"/>
            <a:ext cx="32883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Relationship straight forward or given by question/information, question gives a hint</a:t>
            </a:r>
            <a:endParaRPr lang="en-NL" sz="1600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DEF951B-B705-13A7-C7F6-4D4362BF2A45}"/>
              </a:ext>
            </a:extLst>
          </p:cNvPr>
          <p:cNvCxnSpPr>
            <a:cxnSpLocks/>
            <a:stCxn id="102" idx="3"/>
            <a:endCxn id="43" idx="1"/>
          </p:cNvCxnSpPr>
          <p:nvPr/>
        </p:nvCxnSpPr>
        <p:spPr>
          <a:xfrm flipV="1">
            <a:off x="10304061" y="6229981"/>
            <a:ext cx="935671" cy="922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D1B150C-3E3D-C906-D65E-FB11ECDAF454}"/>
              </a:ext>
            </a:extLst>
          </p:cNvPr>
          <p:cNvCxnSpPr>
            <a:cxnSpLocks/>
            <a:stCxn id="42" idx="3"/>
            <a:endCxn id="102" idx="1"/>
          </p:cNvCxnSpPr>
          <p:nvPr/>
        </p:nvCxnSpPr>
        <p:spPr>
          <a:xfrm>
            <a:off x="5625093" y="6452160"/>
            <a:ext cx="1390668" cy="700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7D122B-A95F-91D5-D614-CA953B8A10F9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450643" y="3737228"/>
            <a:ext cx="814398" cy="15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28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DB98-92FF-3B1B-529D-029C6B453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0214CA-B9E1-881F-C0F7-7CADABAC2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219351"/>
              </p:ext>
            </p:extLst>
          </p:nvPr>
        </p:nvGraphicFramePr>
        <p:xfrm>
          <a:off x="309748" y="196548"/>
          <a:ext cx="11488731" cy="1036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4892">
                  <a:extLst>
                    <a:ext uri="{9D8B030D-6E8A-4147-A177-3AD203B41FA5}">
                      <a16:colId xmlns:a16="http://schemas.microsoft.com/office/drawing/2014/main" val="331866737"/>
                    </a:ext>
                  </a:extLst>
                </a:gridCol>
                <a:gridCol w="4764086">
                  <a:extLst>
                    <a:ext uri="{9D8B030D-6E8A-4147-A177-3AD203B41FA5}">
                      <a16:colId xmlns:a16="http://schemas.microsoft.com/office/drawing/2014/main" val="737750094"/>
                    </a:ext>
                  </a:extLst>
                </a:gridCol>
                <a:gridCol w="3449753">
                  <a:extLst>
                    <a:ext uri="{9D8B030D-6E8A-4147-A177-3AD203B41FA5}">
                      <a16:colId xmlns:a16="http://schemas.microsoft.com/office/drawing/2014/main" val="3145686782"/>
                    </a:ext>
                  </a:extLst>
                </a:gridCol>
              </a:tblGrid>
              <a:tr h="654052">
                <a:tc>
                  <a:txBody>
                    <a:bodyPr/>
                    <a:lstStyle/>
                    <a:p>
                      <a:r>
                        <a:rPr lang="en-NL" sz="1300"/>
                        <a:t>Concepts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1300"/>
                        <a:t>Subconcepts</a:t>
                      </a:r>
                      <a:endParaRPr lang="en-NL" sz="13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Parameters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602702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NL" sz="1300"/>
                        <a:t>Drug absorption</a:t>
                      </a:r>
                      <a:endParaRPr lang="en-N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1300"/>
                        <a:t>Absorption rate constant </a:t>
                      </a:r>
                    </a:p>
                    <a:p>
                      <a:pPr lvl="0">
                        <a:buNone/>
                      </a:pPr>
                      <a:r>
                        <a:rPr lang="en-NL" sz="1300"/>
                        <a:t>Physico-chemical properties</a:t>
                      </a:r>
                    </a:p>
                    <a:p>
                      <a:pPr lvl="0">
                        <a:buNone/>
                      </a:pPr>
                      <a:r>
                        <a:rPr lang="en-NL" sz="1300"/>
                        <a:t>Drug formulation</a:t>
                      </a:r>
                    </a:p>
                    <a:p>
                      <a:pPr lvl="0">
                        <a:buNone/>
                      </a:pPr>
                      <a:r>
                        <a:rPr lang="en-GB" sz="1300"/>
                        <a:t>C</a:t>
                      </a:r>
                      <a:r>
                        <a:rPr lang="en-NL" sz="1300"/>
                        <a:t>oncentration-time relationships</a:t>
                      </a:r>
                    </a:p>
                    <a:p>
                      <a:pPr lvl="0">
                        <a:buNone/>
                      </a:pPr>
                      <a:r>
                        <a:rPr lang="en-NL" sz="1300"/>
                        <a:t>BSC classification</a:t>
                      </a:r>
                    </a:p>
                    <a:p>
                      <a:pPr lvl="0">
                        <a:buNone/>
                      </a:pPr>
                      <a:r>
                        <a:rPr lang="en-NL" sz="1300"/>
                        <a:t>Transport mechanisms</a:t>
                      </a:r>
                      <a:endParaRPr lang="en-N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 Tmax, Cmax, ka, (ke) 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795881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NL" sz="1300"/>
                        <a:t>Drug distribution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Body compartments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Physico-chemical properties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Protein binding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Patient characteristics 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Tissue specificity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Vd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26730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NL" sz="1300"/>
                        <a:t>Drug metaboli</a:t>
                      </a:r>
                      <a:r>
                        <a:rPr lang="en-US" sz="1300"/>
                        <a:t>sm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dirty="0"/>
                        <a:t>Intrinsic clearance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Enzymatic reactions</a:t>
                      </a:r>
                    </a:p>
                    <a:p>
                      <a:pPr lvl="0">
                        <a:buNone/>
                      </a:pPr>
                      <a:r>
                        <a:rPr lang="en-US" sz="1300" dirty="0"/>
                        <a:t>Metabolic clearance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Hepatic clearance 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Physico</a:t>
                      </a:r>
                      <a:r>
                        <a:rPr lang="en-US" sz="13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-chemical properties</a:t>
                      </a:r>
                    </a:p>
                    <a:p>
                      <a:pPr lvl="0">
                        <a:buNone/>
                      </a:pPr>
                      <a:r>
                        <a:rPr lang="en-US" sz="1300" dirty="0"/>
                        <a:t>Protein binding</a:t>
                      </a:r>
                    </a:p>
                    <a:p>
                      <a:pPr lvl="0">
                        <a:buNone/>
                      </a:pPr>
                      <a:r>
                        <a:rPr lang="en-US" sz="1300" dirty="0"/>
                        <a:t>Hepatic recycling</a:t>
                      </a:r>
                    </a:p>
                    <a:p>
                      <a:pPr lvl="0">
                        <a:buNone/>
                      </a:pPr>
                      <a:r>
                        <a:rPr lang="en-US" sz="1300" dirty="0"/>
                        <a:t>Extraction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CLint , CLm, Vmax, Km, Qh, Fu, Eh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41673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NL" sz="1300"/>
                        <a:t>Drug excretion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Glomerular filtration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Active secretion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Re-absorption</a:t>
                      </a:r>
                    </a:p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Physico-chemical properties</a:t>
                      </a:r>
                    </a:p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Protein binding </a:t>
                      </a:r>
                      <a:endParaRPr lang="en-US" sz="13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CLr, GFR, CLint, CLsec, CLreab, Fu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922921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NL" sz="1300"/>
                        <a:t>Drug elimination</a:t>
                      </a:r>
                      <a:endParaRPr lang="en-N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Half –life (t1/2) or elimination rate constant (</a:t>
                      </a:r>
                      <a:r>
                        <a:rPr lang="en-US" sz="1300" dirty="0" err="1"/>
                        <a:t>ke</a:t>
                      </a:r>
                      <a:r>
                        <a:rPr lang="en-US" sz="1300" dirty="0"/>
                        <a:t>) 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Biliary excretion</a:t>
                      </a:r>
                    </a:p>
                    <a:p>
                      <a:pPr lvl="0">
                        <a:buNone/>
                      </a:pPr>
                      <a:r>
                        <a:rPr lang="en-US" sz="1300" dirty="0"/>
                        <a:t>Renal clearance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Physico</a:t>
                      </a:r>
                      <a:r>
                        <a:rPr lang="en-US" sz="13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-chemical properties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Hepatic 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ke, CLt, CLh, CLr, t1/2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105451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Bioavailability</a:t>
                      </a:r>
                      <a:endParaRPr lang="en-US" sz="13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First pass effect </a:t>
                      </a:r>
                    </a:p>
                    <a:p>
                      <a:r>
                        <a:rPr lang="en-US" sz="1300"/>
                        <a:t>Absolute vs relative availability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Pharmaceutical availability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Dosage</a:t>
                      </a:r>
                      <a:endParaRPr lang="en-US" sz="13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AUC, F (Fa, Fg, Fh)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016234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Variation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Intrinsic and extrinsic factors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Drug-target interaction differences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Treatment failures 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Therapeutic drug monitoring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Cp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24550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US" sz="1300"/>
                        <a:t>First- and zero order kinetics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Clearance and half-life constant &gt; First order</a:t>
                      </a:r>
                    </a:p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Graphical distinguish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Rel, ke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74324"/>
                  </a:ext>
                </a:extLst>
              </a:tr>
              <a:tr h="654052">
                <a:tc>
                  <a:txBody>
                    <a:bodyPr/>
                    <a:lstStyle/>
                    <a:p>
                      <a:r>
                        <a:rPr lang="en-US" sz="1300"/>
                        <a:t>Bio analysis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Sample preparation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Analysis methods (HLPC, MS)</a:t>
                      </a:r>
                    </a:p>
                    <a:p>
                      <a:pPr lvl="0">
                        <a:buNone/>
                      </a:pPr>
                      <a:r>
                        <a:rPr lang="en-US" sz="1300"/>
                        <a:t>Isotopes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Physico-chemical properties</a:t>
                      </a:r>
                    </a:p>
                    <a:p>
                      <a:pPr marL="0" marR="0" lvl="0" indent="0" algn="l" defTabSz="1298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Data interpretation</a:t>
                      </a:r>
                      <a:endParaRPr lang="en-US" sz="13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m/z,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54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78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FF6679FFD65543A5DC4444C6805CE2" ma:contentTypeVersion="10" ma:contentTypeDescription="Create a new document." ma:contentTypeScope="" ma:versionID="c350383cf3f9aefd665ddbd487dace1b">
  <xsd:schema xmlns:xsd="http://www.w3.org/2001/XMLSchema" xmlns:xs="http://www.w3.org/2001/XMLSchema" xmlns:p="http://schemas.microsoft.com/office/2006/metadata/properties" xmlns:ns2="5eee1ab7-5905-4a82-8d1b-09a7b214fc1e" xmlns:ns3="32a78bde-0c8a-481f-b148-30dd4a68dcef" targetNamespace="http://schemas.microsoft.com/office/2006/metadata/properties" ma:root="true" ma:fieldsID="021ea8635a6501328f4cc25b5e3d46d3" ns2:_="" ns3:_="">
    <xsd:import namespace="5eee1ab7-5905-4a82-8d1b-09a7b214fc1e"/>
    <xsd:import namespace="32a78bde-0c8a-481f-b148-30dd4a68dc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e1ab7-5905-4a82-8d1b-09a7b214fc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b077af7-eccc-41ba-8726-6d08c81cb0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78bde-0c8a-481f-b148-30dd4a68dce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c00e8e-9c86-4908-9c6b-ac513ff2fc18}" ma:internalName="TaxCatchAll" ma:showField="CatchAllData" ma:web="32a78bde-0c8a-481f-b148-30dd4a68dc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a78bde-0c8a-481f-b148-30dd4a68dcef" xsi:nil="true"/>
    <lcf76f155ced4ddcb4097134ff3c332f xmlns="5eee1ab7-5905-4a82-8d1b-09a7b214fc1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F9FBD2-696D-4DDF-B5DF-1442A10F84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ee1ab7-5905-4a82-8d1b-09a7b214fc1e"/>
    <ds:schemaRef ds:uri="32a78bde-0c8a-481f-b148-30dd4a68d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7907C7-BFF7-4ADB-908B-ED23A36D23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BE07AE-C74B-4370-A738-2ADA2A3F80E4}">
  <ds:schemaRefs>
    <ds:schemaRef ds:uri="32a78bde-0c8a-481f-b148-30dd4a68dcef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5eee1ab7-5905-4a82-8d1b-09a7b214fc1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15541</TotalTime>
  <Words>331</Words>
  <Application>Microsoft Macintosh PowerPoint</Application>
  <PresentationFormat>Custom</PresentationFormat>
  <Paragraphs>92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Anneke Van Houwelingen</dc:creator>
  <cp:lastModifiedBy>Jonge, L. de (Loek)</cp:lastModifiedBy>
  <cp:revision>26</cp:revision>
  <dcterms:created xsi:type="dcterms:W3CDTF">2026-04-28T11:41:02Z</dcterms:created>
  <dcterms:modified xsi:type="dcterms:W3CDTF">2026-10-25T14:40:55Z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0x01010014FF6679FFD65543A5DC4444C6805CE2</vt:lpwstr>
  </property>
  <property fmtid="{D5CDD505-2E9C-101B-9397-08002B2CF9AE}" pid="3" name="MediaServiceImageTags">
    <vt:lpwstr/>
  </property>
</Properties>
</file>